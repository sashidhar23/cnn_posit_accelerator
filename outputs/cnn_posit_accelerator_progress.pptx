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9ad3de3b6841b5" /><Relationship Type="http://schemas.openxmlformats.org/officeDocument/2006/relationships/extended-properties" Target="/docProps/app.xml" Id="R7e6c456a104e4e4d" /><Relationship Type="http://schemas.openxmlformats.org/officeDocument/2006/relationships/officeDocument" Target="/ppt/presentation.xml" Id="R5080db29d1f4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4764114f584604"/>
  </p:sldMasterIdLst>
  <p:notesMasterIdLst>
    <p:notesMasterId xmlns:r="http://schemas.openxmlformats.org/officeDocument/2006/relationships" r:id="R48b140a4d2d04a89"/>
  </p:notesMasterIdLst>
  <p:sldIdLst>
    <p:sldId xmlns:r="http://schemas.openxmlformats.org/officeDocument/2006/relationships" id="256" r:id="R1d61414f0f794526"/>
    <p:sldId xmlns:r="http://schemas.openxmlformats.org/officeDocument/2006/relationships" id="257" r:id="Ra8472dd16ccf4d33"/>
    <p:sldId xmlns:r="http://schemas.openxmlformats.org/officeDocument/2006/relationships" id="258" r:id="R9943f3930c614bd3"/>
    <p:sldId xmlns:r="http://schemas.openxmlformats.org/officeDocument/2006/relationships" id="259" r:id="Rb4fa53e025c54927"/>
    <p:sldId xmlns:r="http://schemas.openxmlformats.org/officeDocument/2006/relationships" id="260" r:id="R48c34fa9cb864ceb"/>
    <p:sldId xmlns:r="http://schemas.openxmlformats.org/officeDocument/2006/relationships" id="261" r:id="R0539c5d4293f437e"/>
    <p:sldId xmlns:r="http://schemas.openxmlformats.org/officeDocument/2006/relationships" id="262" r:id="Rf0466244980c490f"/>
    <p:sldId xmlns:r="http://schemas.openxmlformats.org/officeDocument/2006/relationships" id="263" r:id="R05795f9c62eb4a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86eca1458c4dac" /><Relationship Type="http://schemas.openxmlformats.org/officeDocument/2006/relationships/slideMaster" Target="/ppt/slideMasters/slideMaster1.xml" Id="R0c4764114f584604" /><Relationship Type="http://schemas.openxmlformats.org/officeDocument/2006/relationships/notesMaster" Target="/ppt/notesMasters/notesMaster1.xml" Id="R48b140a4d2d04a89" /><Relationship Type="http://schemas.openxmlformats.org/officeDocument/2006/relationships/presProps" Target="/ppt/presProps.xml" Id="R206dac015b2f4607" /><Relationship Type="http://schemas.openxmlformats.org/officeDocument/2006/relationships/tableStyles" Target="/ppt/tableStyles.xml" Id="R9334bc523c704c76" /><Relationship Type="http://schemas.openxmlformats.org/officeDocument/2006/relationships/slide" Target="/ppt/slides/slide1.xml" Id="R1d61414f0f794526" /><Relationship Type="http://schemas.openxmlformats.org/officeDocument/2006/relationships/slide" Target="/ppt/slides/slide2.xml" Id="Ra8472dd16ccf4d33" /><Relationship Type="http://schemas.openxmlformats.org/officeDocument/2006/relationships/slide" Target="/ppt/slides/slide3.xml" Id="R9943f3930c614bd3" /><Relationship Type="http://schemas.openxmlformats.org/officeDocument/2006/relationships/slide" Target="/ppt/slides/slide4.xml" Id="Rb4fa53e025c54927" /><Relationship Type="http://schemas.openxmlformats.org/officeDocument/2006/relationships/slide" Target="/ppt/slides/slide5.xml" Id="R48c34fa9cb864ceb" /><Relationship Type="http://schemas.openxmlformats.org/officeDocument/2006/relationships/slide" Target="/ppt/slides/slide6.xml" Id="R0539c5d4293f437e" /><Relationship Type="http://schemas.openxmlformats.org/officeDocument/2006/relationships/slide" Target="/ppt/slides/slide7.xml" Id="Rf0466244980c490f" /><Relationship Type="http://schemas.openxmlformats.org/officeDocument/2006/relationships/slide" Target="/ppt/slides/slide8.xml" Id="R05795f9c62eb4a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ce208a8f434d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762d34095407d" /><Relationship Type="http://schemas.openxmlformats.org/officeDocument/2006/relationships/notesMaster" Target="/ppt/notesMasters/notesMaster1.xml" Id="R0bef4ca275ee44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ec6e168a574e5f" /><Relationship Type="http://schemas.openxmlformats.org/officeDocument/2006/relationships/notesMaster" Target="/ppt/notesMasters/notesMaster1.xml" Id="Ra55e5444d7e24e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9cee3b3d3c4d25" /><Relationship Type="http://schemas.openxmlformats.org/officeDocument/2006/relationships/notesMaster" Target="/ppt/notesMasters/notesMaster1.xml" Id="R814526e54e424d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de8cb75f8441f" /><Relationship Type="http://schemas.openxmlformats.org/officeDocument/2006/relationships/notesMaster" Target="/ppt/notesMasters/notesMaster1.xml" Id="R04791ffa3b2144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8c16e561c14c8a" /><Relationship Type="http://schemas.openxmlformats.org/officeDocument/2006/relationships/notesMaster" Target="/ppt/notesMasters/notesMaster1.xml" Id="R068e91a7e22e46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aea645740e47a6" /><Relationship Type="http://schemas.openxmlformats.org/officeDocument/2006/relationships/notesMaster" Target="/ppt/notesMasters/notesMaster1.xml" Id="R6b3ec95f03164e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39fc576434b16" /><Relationship Type="http://schemas.openxmlformats.org/officeDocument/2006/relationships/notesMaster" Target="/ppt/notesMasters/notesMaster1.xml" Id="R75e1102e5ce6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fa57b2622d4e1a" /><Relationship Type="http://schemas.openxmlformats.org/officeDocument/2006/relationships/notesMaster" Target="/ppt/notesMasters/notesMaster1.xml" Id="Rf904d112988548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aaaead69346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b8acb1acd4b53" /><Relationship Type="http://schemas.openxmlformats.org/officeDocument/2006/relationships/slideLayout" Target="/ppt/slideLayouts/slideLayout1.xml" Id="Rff0efaa0ad6942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efaa0ad6942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dc1f7e26f4421" /><Relationship Type="http://schemas.openxmlformats.org/officeDocument/2006/relationships/notesSlide" Target="/ppt/notesSlides/notesSlide1.xml" Id="R948c3af0711b40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fd7fd0ee24573" /><Relationship Type="http://schemas.openxmlformats.org/officeDocument/2006/relationships/notesSlide" Target="/ppt/notesSlides/notesSlide2.xml" Id="Rcac4afb665ff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422b9992b429f" /><Relationship Type="http://schemas.openxmlformats.org/officeDocument/2006/relationships/notesSlide" Target="/ppt/notesSlides/notesSlide3.xml" Id="R374be31ed0574b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260e098174950" /><Relationship Type="http://schemas.openxmlformats.org/officeDocument/2006/relationships/notesSlide" Target="/ppt/notesSlides/notesSlide4.xml" Id="R1d19ffca5cdc44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d2388efab4a60" /><Relationship Type="http://schemas.openxmlformats.org/officeDocument/2006/relationships/chart" Target="/ppt/slides/charts/chart1.xml" Id="Rd68be0e4d803412c" /><Relationship Type="http://schemas.openxmlformats.org/officeDocument/2006/relationships/notesSlide" Target="/ppt/notesSlides/notesSlide5.xml" Id="Ra3fc4cf7d03049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77db3bf494cc2" /><Relationship Type="http://schemas.openxmlformats.org/officeDocument/2006/relationships/notesSlide" Target="/ppt/notesSlides/notesSlide6.xml" Id="R46ad737c6a6346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1fad75d4a4d3f" /><Relationship Type="http://schemas.openxmlformats.org/officeDocument/2006/relationships/notesSlide" Target="/ppt/notesSlides/notesSlide7.xml" Id="R2b3a9ac1f4cc4a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197cf67d44e50" /><Relationship Type="http://schemas.openxmlformats.org/officeDocument/2006/relationships/notesSlide" Target="/ppt/notesSlides/notesSlide8.xml" Id="Rc8ee6493567645d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Pass = 1</c:v>
          </c:tx>
          <c:spPr>
            <a:solidFill xmlns:a="http://schemas.openxmlformats.org/drawingml/2006/main">
              <a:srgbClr val="E9542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MAC</c:v>
              </c:pt>
              <c:pt idx="1">
                <c:v>FIFO</c:v>
              </c:pt>
              <c:pt idx="2">
                <c:v>PE</c:v>
              </c:pt>
              <c:pt idx="3">
                <c:v>Array</c:v>
              </c:pt>
              <c:pt idx="4">
                <c:v>Core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62BD01-BA68-47BA-865F-9D78E813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0F14"/>
                </a:solidFill>
              </a:defRPr>
            </a:pPr>
            <a:r>
              <a:rPr sz="4350" b="1">
                <a:solidFill>
                  <a:srgbClr val="0B0F14"/>
                </a:solidFill>
              </a:rPr>
              <a:t>CNN Posit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A1FBC-010C-4DCF-AC65-2D086B4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470"/>
                </a:solidFill>
              </a:defRPr>
            </a:pPr>
            <a:r>
              <a:rPr sz="1950" b="0">
                <a:solidFill>
                  <a:srgbClr val="5B6470"/>
                </a:solidFill>
              </a:rPr>
              <a:t>Project progress, current verification status, and next build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7A736-7300-45FC-B4DC-7FC99CED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8242B-5B9A-430E-BB17-862FC34A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B7F46"/>
                </a:solidFill>
              </a:defRPr>
            </a:pPr>
            <a:r>
              <a:rPr sz="3150" b="1">
                <a:solidFill>
                  <a:srgbClr val="1B7F46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E6889-AA90-463B-8491-AA7D28B6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</a:defRPr>
            </a:pPr>
            <a:r>
              <a:rPr sz="1350" b="0">
                <a:solidFill>
                  <a:srgbClr val="5B6470"/>
                </a:solidFill>
              </a:rPr>
              <a:t>Arithmetic blocks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F914C-5286-45E1-92F7-50C97933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57A6"/>
                </a:solidFill>
              </a:defRPr>
            </a:pPr>
            <a:r>
              <a:rPr sz="3150" b="1">
                <a:solidFill>
                  <a:srgbClr val="2457A6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465C8-31D2-4F1E-961A-04A93B61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</a:defRPr>
            </a:pPr>
            <a:r>
              <a:rPr sz="1350" b="0">
                <a:solidFill>
                  <a:srgbClr val="5B6470"/>
                </a:solidFill>
              </a:rPr>
              <a:t>MAC / PE layers started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D5AA1-2D49-486C-9E02-B9217A30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81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66A00"/>
                </a:solidFill>
              </a:defRPr>
            </a:pPr>
            <a:r>
              <a:rPr sz="3150" b="1">
                <a:solidFill>
                  <a:srgbClr val="A66A00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A2210-46AA-4B0A-AF48-E0D2B005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33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</a:defRPr>
            </a:pPr>
            <a:r>
              <a:rPr sz="1350" b="0">
                <a:solidFill>
                  <a:srgbClr val="5B6470"/>
                </a:solidFill>
              </a:rPr>
              <a:t>Systolic integration issues 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23A3C-2D77-4E46-8166-A258134A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814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95420"/>
                </a:solidFill>
              </a:defRPr>
            </a:pPr>
            <a:r>
              <a:rPr sz="3150" b="1">
                <a:solidFill>
                  <a:srgbClr val="E95420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31741-C007-4484-A782-14878725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338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</a:defRPr>
            </a:pPr>
            <a:r>
              <a:rPr sz="1350" b="0">
                <a:solidFill>
                  <a:srgbClr val="5B6470"/>
                </a:solidFill>
              </a:rPr>
              <a:t>Primary next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7393A-2928-4CD1-BF7E-96BF6092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</a:defRPr>
            </a:pPr>
            <a:r>
              <a:rPr sz="1800" b="1">
                <a:solidFill>
                  <a:srgbClr val="0B0F14"/>
                </a:solidFill>
              </a:rPr>
              <a:t>Focus: make the PE-to-array partial-sum interface compile and verify end-to-end.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D1DD8-3ADC-41D1-BEC3-D8F2C34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Project progress snapshot | 01</a:t>
            </a:r>
          </a:p>
        </p:txBody>
      </p:sp>
    </p:spTree>
    <p:extLst>
      <p:ext uri="{BB962C8B-B14F-4D97-AF65-F5344CB8AC3E}">
        <p14:creationId xmlns:p14="http://schemas.microsoft.com/office/powerpoint/2010/main" val="1413481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C8B61-3CB3-4D93-893D-5965D220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CNN POSIT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4B750-DA3E-47C7-94D5-93C03BB3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931D0-F0D1-44E9-83E8-7539D5B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32A79-E5FE-498E-B281-8530B076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</a:defRPr>
            </a:pPr>
            <a:r>
              <a:rPr sz="2100" b="1">
                <a:solidFill>
                  <a:srgbClr val="0B0F14"/>
                </a:solidFill>
              </a:rPr>
              <a:t>Build a hardware accelerator for CNN workloads using posit arithmetic, moving from verified arithmetic primitives into a systolic compute 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3E90F-F253-4849-95CD-F7D3E238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90700"/>
            <a:ext cx="2619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0B3A-2FB3-4D64-B68F-713ABD64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0"/>
                </a:solidFill>
              </a:defRPr>
            </a:pPr>
            <a:r>
              <a:rPr sz="1050" b="1">
                <a:solidFill>
                  <a:srgbClr val="5B6470"/>
                </a:solidFill>
              </a:rPr>
              <a:t>TARGET COMPUTE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83FF2-FA51-4A1C-8544-10271432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95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AFDB6-BEAB-4B64-8530-4845933C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Posit decode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FB342-DD18-4D25-8D97-527B04CE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95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B0C37-B08F-48CD-B67B-6D29D41D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Multiply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730C1-1B5A-41D6-AD3A-19DA4C6C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58337-B3A4-4096-B95F-1AF3943D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Accumulate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D830F-D4A8-4EB4-937C-E6E89286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95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0DBA9-5922-41A5-AC63-197807B2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95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Quire 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03B26-B4F2-4BA0-8282-B93D1E9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E13F3-7E30-432B-8F50-68B5C779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Array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4BE6E-C28B-446E-A3E5-5E1BCE94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5420"/>
                </a:solidFill>
              </a:defRPr>
            </a:pPr>
            <a:r>
              <a:rPr sz="16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06644-E0EC-4B9A-8C06-7128554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Arithmetic precision is being explored through both rounded posit MAC and wide-quire MAC paths.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F2452-5BFD-415C-872F-FE397614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5420"/>
                </a:solidFill>
              </a:defRPr>
            </a:pPr>
            <a:r>
              <a:rPr sz="16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C4B30-9808-4C68-AEF5-E96B94A2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The project has advanced beyond isolated modules into PE and systolic-array composition.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660D2-7538-4B73-BDA1-7FB48B8F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Project progress snapshot | 02</a:t>
            </a:r>
          </a:p>
        </p:txBody>
      </p:sp>
    </p:spTree>
    <p:extLst>
      <p:ext uri="{BB962C8B-B14F-4D97-AF65-F5344CB8AC3E}">
        <p14:creationId xmlns:p14="http://schemas.microsoft.com/office/powerpoint/2010/main" val="688913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12318E-3EF3-4B7C-AE87-8723F46C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CNN POSIT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8AE5B-D2CC-46E9-9279-BF53D99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Repository progress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78F34-377A-49A4-8E06-B9D909A1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BBCA0-C447-460F-9703-257C1D2D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4FA8D-977B-46E8-8CD0-F5BC40CC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B4ACA-D1E9-47C2-8F95-60A25F9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30242-7836-45F7-AD3D-CC0369DD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posit_encoder.py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410D9-8C3F-40B0-82B4-C9A8CDCC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5D714-C0FB-4A70-8B22-32E4B99A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posit_decoder.py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473A3-AF29-4219-86F3-3D8CC2ED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4CBCF-F4B2-47E7-A266-92FD57A1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test vectors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6BA96-54B3-482B-AACB-A726D9E5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6215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297F4-2C79-4715-93D0-706F4E48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Arithmetic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C060A-B759-490F-BA1B-BF19470D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AB502-7456-4B19-A227-8670D9BB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posit_decoder.v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9424F-14BA-4C98-A4A6-11D54D80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58530-FAD4-435E-94C0-0ECD9E8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posit_encoder.v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FCC0E-F931-4792-90E9-B5C10319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69073-CB47-4B03-B59A-6BA3F81D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052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posit_multiplier.v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05CA9-6C23-4F0F-A5B4-AD7A8D66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67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59BA2-B169-4E5B-88C0-3E35EF91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671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posit_adder.v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CA690-8345-46F7-A335-E052965A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6215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09901-A203-402C-84F5-CE16205E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5420"/>
                </a:solidFill>
              </a:defRPr>
            </a:pPr>
            <a:r>
              <a:rPr sz="1875" b="1">
                <a:solidFill>
                  <a:srgbClr val="E95420"/>
                </a:solidFill>
              </a:rPr>
              <a:t>Compute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DAE6D3-69F3-441B-9007-B9C9AE8B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AF642-5247-4335-A81E-AD2808BD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posit_mac.v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A81D2-3473-4E95-A1B1-148A056C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E21151-A882-412F-B4C4-ACFA21CC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posit_quire_mac.v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62C31-F849-4F7D-A7F7-32514B3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58AF2-7F09-4EAF-8E62-02375E21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pe.v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53B6C-5E7E-4CF1-9BE7-72352207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904519-CBAE-4205-81BD-277CD147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pe_quire.v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DB8BE-4F71-4E49-B2A3-C6EDD358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172E39-3516-40F6-B81D-BBCEFF84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5420"/>
                </a:solidFill>
              </a:defRPr>
            </a:pPr>
            <a:r>
              <a:rPr sz="1875" b="1">
                <a:solidFill>
                  <a:srgbClr val="E95420"/>
                </a:solidFill>
              </a:rPr>
              <a:t>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D21FB3-9668-4335-94E4-C1CEAD80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862C72-0CBF-4D04-AEE8-796D839E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input_fifo.v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90AC6-A494-47BB-9919-E295ABD0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AECE55-23AC-4551-8B3A-8F9B127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output_fifo.v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857DF2-2725-4872-BD21-E9D5D163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DDB8DF-88D8-40BB-B8C8-84C260AB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systolic_array*.v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9BA885-B330-4A02-BA65-B782D7DF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67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420"/>
                </a:solidFill>
              </a:defRPr>
            </a:pPr>
            <a:r>
              <a:rPr sz="135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3AF19F-8D6D-44CC-8031-8A3C12B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671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systolic_core*.v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CAC0FB-262E-4F53-AB81-53A287DA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Status: the lower layers are mostly in place; the top-level systolic hierarchy needs interface cleanup.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586272-078F-477F-B052-D44DAD9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Project progress snapshot | 03</a:t>
            </a:r>
          </a:p>
        </p:txBody>
      </p:sp>
    </p:spTree>
    <p:extLst>
      <p:ext uri="{BB962C8B-B14F-4D97-AF65-F5344CB8AC3E}">
        <p14:creationId xmlns:p14="http://schemas.microsoft.com/office/powerpoint/2010/main" val="825336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C194A4-F724-4DE9-9D53-485BB824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CNN POSIT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AD841-5FD1-4E90-80BA-A3C59D7C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Arithmetic datapath is in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1319C-7C55-4732-A58B-FEB13664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A7FFB-467D-4486-B510-57A42E6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DFA32-19ED-4973-9882-3CB21456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posit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DB52C-E546-4993-A738-88BE500D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622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B6470"/>
                </a:solidFill>
              </a:defRPr>
            </a:pPr>
            <a:r>
              <a:rPr sz="2850" b="1">
                <a:solidFill>
                  <a:srgbClr val="5B647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1C36-349E-4EF2-9BF6-8519EAD8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242C4-6016-4A99-AF94-0E05DDC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03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decoder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13A86-854E-4656-BBDD-703561D1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622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B6470"/>
                </a:solidFill>
              </a:defRPr>
            </a:pPr>
            <a:r>
              <a:rPr sz="2850" b="1">
                <a:solidFill>
                  <a:srgbClr val="5B647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2795F-DB9D-4268-8257-BC97FC36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33625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5F90B-D025-4AB1-B27D-1C3E0C9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03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mul / add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8716D-B83A-4192-AA0F-CECBB21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622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B6470"/>
                </a:solidFill>
              </a:defRPr>
            </a:pPr>
            <a:r>
              <a:rPr sz="2850" b="1">
                <a:solidFill>
                  <a:srgbClr val="5B647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56B8B-0873-47C0-A3A5-3D01EACC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AC37D-4175-455A-BF85-F11DE3A5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03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encoder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7F013-74EA-4565-8777-8EEC8A78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622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B6470"/>
                </a:solidFill>
              </a:defRPr>
            </a:pPr>
            <a:r>
              <a:rPr sz="2850" b="1">
                <a:solidFill>
                  <a:srgbClr val="5B647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0D593-2346-41EA-99AC-0D1538AA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33625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B5D41-9CC3-4A53-B856-E0416BCC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03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posit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6B112-0B9E-434A-9D78-CB450723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914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2C267-9FA4-4B13-91B5-395E7544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Quire MAC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527A4-8241-4AD0-AD6A-FA6EF41A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43375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Products are accumulated in a wide fixed-point quire, then converted back to posit only at output. This avoids repeated rounding inside long dot products.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33781-6AB5-4F81-9C3C-B1322874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Project progress snapshot | 04</a:t>
            </a:r>
          </a:p>
        </p:txBody>
      </p:sp>
    </p:spTree>
    <p:extLst>
      <p:ext uri="{BB962C8B-B14F-4D97-AF65-F5344CB8AC3E}">
        <p14:creationId xmlns:p14="http://schemas.microsoft.com/office/powerpoint/2010/main" val="825068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67EF96-123F-4D35-B6B6-6C1AE5D2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CNN POSIT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A1F83-DF66-43F5-A875-9D35340A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Verification status from local testbenches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7CC4F-9C45-4D79-A9D0-56C94713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4953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8be0e4d803412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7FAC1-F749-452D-8A68-53EDD2C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0"/>
                </a:solidFill>
              </a:defRPr>
            </a:pPr>
            <a:r>
              <a:rPr sz="1050" b="1">
                <a:solidFill>
                  <a:srgbClr val="5B6470"/>
                </a:solidFill>
              </a:rPr>
              <a:t>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790F-0931-41DD-94DE-D2139605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16E5C-5BF6-4317-A51D-2541C22E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posit_mac testbench passes the checked accumulation cases.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5CE0C-8944-4EF4-BA24-6F0C5317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531D9-A991-4D7E-89B6-CA695112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289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input/output FIFO tests pass reset, write, read, wrap, and clear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F3EBD-1767-479F-B8A6-6B6036CB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58870-7222-4763-8745-CB5B8916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PE tests compile but fail expected timing/output checks.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0EABB-DAB7-4A1D-92EA-D658E045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24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FB328-2233-44F6-8C79-090E60BF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24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Systolic array/core elaboration fails due to missing partial-sum 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49875-73E4-4E24-9668-AE713E42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Project progress snapshot | 05</a:t>
            </a:r>
          </a:p>
        </p:txBody>
      </p:sp>
    </p:spTree>
    <p:extLst>
      <p:ext uri="{BB962C8B-B14F-4D97-AF65-F5344CB8AC3E}">
        <p14:creationId xmlns:p14="http://schemas.microsoft.com/office/powerpoint/2010/main" val="669701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5A36A-1A3D-436E-A3FB-62ADA30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CNN POSIT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DE2E6-7C6C-4F7E-8B5A-B99B8791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Systolic compute hierarchy has been started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8DA7E-9DC2-4A8B-8788-18DC440A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52A9C-9190-40EB-8D8E-DB80DF30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5420"/>
                </a:solidFill>
              </a:defRPr>
            </a:pPr>
            <a:r>
              <a:rPr sz="2400" b="1">
                <a:solidFill>
                  <a:srgbClr val="E9542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D8C83-2838-41FC-864E-CDEB1FE4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Input FIFOs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652E5-2B61-43CF-B890-0F665B12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</a:defRPr>
            </a:pPr>
            <a:r>
              <a:rPr sz="1500" b="0">
                <a:solidFill>
                  <a:srgbClr val="5B6470"/>
                </a:solidFill>
              </a:rPr>
              <a:t>Buffers activations per 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45D27-DF68-4D85-88BC-D3D0A587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574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C68BC-FD14-4013-816E-E5C3180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478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7F46"/>
                </a:solidFill>
              </a:defRPr>
            </a:pPr>
            <a:r>
              <a:rPr sz="1200" b="1">
                <a:solidFill>
                  <a:srgbClr val="1B7F46"/>
                </a:solidFill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923DA-8AAA-4D27-883D-B1AA3876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5420"/>
                </a:solidFill>
              </a:defRPr>
            </a:pPr>
            <a:r>
              <a:rPr sz="2400" b="1">
                <a:solidFill>
                  <a:srgbClr val="E9542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FF868-5EAD-4AA5-A553-BCBC62B7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Skew / row delay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F5A61-F2CE-4E96-90BD-2E8893A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</a:defRPr>
            </a:pPr>
            <a:r>
              <a:rPr sz="1500" b="0">
                <a:solidFill>
                  <a:srgbClr val="5B6470"/>
                </a:solidFill>
              </a:rPr>
              <a:t>Offsets rows for systolic 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D8677-BE33-43C3-9FFF-6032F83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384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5A8BD-5CC4-47FA-93BA-77AA0241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289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7F46"/>
                </a:solidFill>
              </a:defRPr>
            </a:pPr>
            <a:r>
              <a:rPr sz="1200" b="1">
                <a:solidFill>
                  <a:srgbClr val="1B7F46"/>
                </a:solidFill>
              </a:rPr>
              <a:t>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D4558-A1B1-4A8F-81F7-F0C22172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5420"/>
                </a:solidFill>
              </a:defRPr>
            </a:pPr>
            <a:r>
              <a:rPr sz="2400" b="1">
                <a:solidFill>
                  <a:srgbClr val="E9542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85013-B67D-4F2C-9982-1D5CB26D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PE array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9A144-F0EB-49C7-BA9C-073F555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</a:defRPr>
            </a:pPr>
            <a:r>
              <a:rPr sz="1500" b="0">
                <a:solidFill>
                  <a:srgbClr val="5B6470"/>
                </a:solidFill>
              </a:rPr>
              <a:t>Instantiates PE grid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97F2B-8B18-4ED4-848D-A5126CF2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C7FAA-2ABC-4553-97CB-A44431E1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099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6A00"/>
                </a:solidFill>
              </a:defRPr>
            </a:pPr>
            <a:r>
              <a:rPr sz="1200" b="1">
                <a:solidFill>
                  <a:srgbClr val="A66A00"/>
                </a:solidFill>
              </a:rPr>
              <a:t>WIP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6B003-D2EB-45AB-9C1C-8DE5A474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5420"/>
                </a:solidFill>
              </a:defRPr>
            </a:pPr>
            <a:r>
              <a:rPr sz="2400" b="1">
                <a:solidFill>
                  <a:srgbClr val="E9542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5D901-2E7A-44CD-8A24-FE59F3D7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Output alignment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8EE80-5E74-4E5D-A905-68EBE5CD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</a:defRPr>
            </a:pPr>
            <a:r>
              <a:rPr sz="1500" b="0">
                <a:solidFill>
                  <a:srgbClr val="5B6470"/>
                </a:solidFill>
              </a:rPr>
              <a:t>Delays columns for output sync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B8D81-0AFB-47CC-951D-8DF6768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005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5441F-CADE-4BFD-AB7D-4564D078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910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6A00"/>
                </a:solidFill>
              </a:defRPr>
            </a:pPr>
            <a:r>
              <a:rPr sz="1200" b="1">
                <a:solidFill>
                  <a:srgbClr val="A66A00"/>
                </a:solidFill>
              </a:rPr>
              <a:t>WIP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33A1C-A38B-4ADD-AD6C-7FE926F0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Project progress snapshot | 06</a:t>
            </a:r>
          </a:p>
        </p:txBody>
      </p:sp>
    </p:spTree>
    <p:extLst>
      <p:ext uri="{BB962C8B-B14F-4D97-AF65-F5344CB8AC3E}">
        <p14:creationId xmlns:p14="http://schemas.microsoft.com/office/powerpoint/2010/main" val="978546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55E60D-5EE1-4402-B2DC-04ECC68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CNN POSIT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4D498-BB03-45DF-9681-0B544AE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Current blockers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6BA1D-9B4F-44AC-939A-729FC2C2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447BE-603C-4473-B655-4F3A9547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143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CD3FC-2D00-4348-8364-979F64EF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5420"/>
                </a:solidFill>
              </a:defRPr>
            </a:pPr>
            <a:r>
              <a:rPr sz="2100" b="1">
                <a:solidFill>
                  <a:srgbClr val="E95420"/>
                </a:solidFill>
              </a:rPr>
              <a:t>Interface mismatch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9C13F-9C2E-4ED2-8998-8EEB8777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00C03-F78F-440D-99AB-752CA762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Core and testbenches expect psum_out style 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C6003-EA15-4CB1-95F0-F8668FB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F2516-E52B-456B-A1D2-BEEF2EB7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Array modules currently expose PE outputs but not the expected column partial-sum 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ED95F-413F-475E-9597-B9845DAE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5143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2D7DB-D669-474C-98CF-3EE4B437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Pipeline expectation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B3B40-3839-49D0-8C30-F65AFC19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692FE-51BB-4269-8A3E-47C8FFBB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PE test expectations do not match the registered two-stage datapath.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74B07-A8C2-49B2-918A-FBFA2E0A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5420"/>
                </a:solidFill>
              </a:defRPr>
            </a:pPr>
            <a:r>
              <a:rPr sz="1500" b="1">
                <a:solidFill>
                  <a:srgbClr val="E95420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77DD9-36C5-4A83-A851-FF2A89ED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57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Need to decide whether to change PE timing or update tests around intended latency.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992FA-81EB-47FE-BC77-DA3FF253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4"/>
                </a:solidFill>
              </a:defRPr>
            </a:pPr>
            <a:r>
              <a:rPr sz="1725" b="1">
                <a:solidFill>
                  <a:srgbClr val="0B0F14"/>
                </a:solidFill>
              </a:rPr>
              <a:t>These are integration issues, not a sign that the whole project needs to restart.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FA5DF-8F7B-4615-B939-0D5B41B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Project progress snapshot | 07</a:t>
            </a:r>
          </a:p>
        </p:txBody>
      </p:sp>
    </p:spTree>
    <p:extLst>
      <p:ext uri="{BB962C8B-B14F-4D97-AF65-F5344CB8AC3E}">
        <p14:creationId xmlns:p14="http://schemas.microsoft.com/office/powerpoint/2010/main" val="1043680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40652E-479E-4D2B-AEBF-ACE306B9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</a:defRPr>
            </a:pPr>
            <a:r>
              <a:rPr sz="1200" b="1">
                <a:solidFill>
                  <a:srgbClr val="5B6470"/>
                </a:solidFill>
              </a:rPr>
              <a:t>CNN POSIT ACCELERATOR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4FB1F-E767-48E0-810C-671E9D4B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Next build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A6D3A-852A-4AA5-8015-F3E948E9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3D6D3-FE91-43CB-8B68-D5D720C4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5420"/>
                </a:solidFill>
              </a:defRPr>
            </a:pPr>
            <a:r>
              <a:rPr sz="2550" b="1">
                <a:solidFill>
                  <a:srgbClr val="E95420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E3BF3-232D-46D3-9C85-20AF973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28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Lock PE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F77B9-F043-4E1C-82D1-CE87D42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</a:defRPr>
            </a:pPr>
            <a:r>
              <a:rPr sz="1425" b="0">
                <a:solidFill>
                  <a:srgbClr val="5B6470"/>
                </a:solidFill>
              </a:rPr>
              <a:t>Choose exact partial-sum direction, latency, and whether the quire PE or rounded PE is the main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4B017-3EBC-4160-8C7D-C51FEFF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5420"/>
                </a:solidFill>
              </a:defRPr>
            </a:pPr>
            <a:r>
              <a:rPr sz="2550" b="1">
                <a:solidFill>
                  <a:srgbClr val="E95420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1626E-7D40-40D8-A270-69FEE557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09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Fix array 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6B4EB-A9F0-4915-80FB-C8E08ACB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</a:defRPr>
            </a:pPr>
            <a:r>
              <a:rPr sz="1425" b="0">
                <a:solidFill>
                  <a:srgbClr val="5B6470"/>
                </a:solidFill>
              </a:rPr>
              <a:t>Expose column psum outputs from systolic_array and systolic_array_quire.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887C4-DDB9-4A07-A70A-46A44FBB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5420"/>
                </a:solidFill>
              </a:defRPr>
            </a:pPr>
            <a:r>
              <a:rPr sz="2550" b="1">
                <a:solidFill>
                  <a:srgbClr val="E95420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29577-A0B6-4325-9CA7-86698332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909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Rebaseline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E4464-3DFA-428F-894B-824C719F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</a:defRPr>
            </a:pPr>
            <a:r>
              <a:rPr sz="1425" b="0">
                <a:solidFill>
                  <a:srgbClr val="5B6470"/>
                </a:solidFill>
              </a:rPr>
              <a:t>Update PE and array testbenches to the chosen pipeline timing.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F08C5-B33C-4C3A-B248-94B2B18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5420"/>
                </a:solidFill>
              </a:defRPr>
            </a:pPr>
            <a:r>
              <a:rPr sz="2550" b="1">
                <a:solidFill>
                  <a:srgbClr val="E95420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354FC-78AC-48CC-A25B-BEB6D5C3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Add 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663F7-315B-4934-83F5-DC8C906F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</a:defRPr>
            </a:pPr>
            <a:r>
              <a:rPr sz="1425" b="0">
                <a:solidFill>
                  <a:srgbClr val="5B6470"/>
                </a:solidFill>
              </a:rPr>
              <a:t>Create top-level FSM for load weights, stream activations, compute, and drain outputs.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0E56F-A25D-4461-817E-508115DE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5420"/>
                </a:solidFill>
              </a:defRPr>
            </a:pPr>
            <a:r>
              <a:rPr sz="2550" b="1">
                <a:solidFill>
                  <a:srgbClr val="E95420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B0C36-8EEE-4E97-A1FD-646159B4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53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4"/>
                </a:solidFill>
              </a:defRPr>
            </a:pPr>
            <a:r>
              <a:rPr sz="1875" b="1">
                <a:solidFill>
                  <a:srgbClr val="0B0F14"/>
                </a:solidFill>
              </a:rPr>
              <a:t>CNN layer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009DF-B299-403B-8085-DC8A10E5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</a:defRPr>
            </a:pPr>
            <a:r>
              <a:rPr sz="1425" b="0">
                <a:solidFill>
                  <a:srgbClr val="5B6470"/>
                </a:solidFill>
              </a:rPr>
              <a:t>Run one small convolution or matrix-multiply case against Python reference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15FC7-0029-416E-854F-1E2EF51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Project progress snapshot | 08</a:t>
            </a:r>
          </a:p>
        </p:txBody>
      </p:sp>
    </p:spTree>
    <p:extLst>
      <p:ext uri="{BB962C8B-B14F-4D97-AF65-F5344CB8AC3E}">
        <p14:creationId xmlns:p14="http://schemas.microsoft.com/office/powerpoint/2010/main" val="1938365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2026-06-30T05:58:03.7400000Z</dcterms:created>
  <dcterms:modified xsi:type="dcterms:W3CDTF">2026-06-30T05:58:03.7410000Z</dcterms:modified>
</coreProperties>
</file>